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Taxa média (%)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60.47</c:v>
                </c:pt>
                <c:pt idx="1">
                  <c:v>63.17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Taxa média (%)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BA</c:v>
                </c:pt>
                <c:pt idx="1">
                  <c:v>SE</c:v>
                </c:pt>
                <c:pt idx="2">
                  <c:v>RN</c:v>
                </c:pt>
                <c:pt idx="3">
                  <c:v>ES</c:v>
                </c:pt>
                <c:pt idx="4">
                  <c:v>GO</c:v>
                </c:pt>
                <c:pt idx="5">
                  <c:v>CE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36.56</c:v>
                </c:pt>
                <c:pt idx="1">
                  <c:v>36.91</c:v>
                </c:pt>
                <c:pt idx="2">
                  <c:v>42.53</c:v>
                </c:pt>
                <c:pt idx="3">
                  <c:v>78.62</c:v>
                </c:pt>
                <c:pt idx="4">
                  <c:v>80.26</c:v>
                </c:pt>
                <c:pt idx="5">
                  <c:v>90.29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Abertura: apresentar o projeto como engenharia de dados a serviço da política pública de alfabetização.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Vídeo ≤ 5 min: foque problema → arquitetura → 1 resultado → IA → fechamento.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1 do roteiro (~45s): meta 2030, corte 743, fragmentação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2 (~90s): explicar híbrido e as três camadas; citar GCP + template 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o gráfico: evolução nacional. Enfatizar que Gold transforma dado em prioridade.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Contraste CE vs BA: desigualdade como argumento de valor educacional.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IA (~45s): não entrar em hiperparâmetros; frisar que a engenharia entrega o 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 (~30s): evidência até 2030.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Pipeline híbrida medalhão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C8E6E2"/>
                </a:solidFill>
                <a:latin typeface="Calibri"/>
              </a:rPr>
              <a:t>Indicador Criança Alfabetizada · Tech Challenge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492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POSTECH / FIAP — AI Scientist</a:t>
            </a:r>
          </a:p>
          <a:p>
            <a:r>
              <a:rPr sz="1400" b="0">
                <a:solidFill>
                  <a:srgbClr val="FFFFFF"/>
                </a:solidFill>
                <a:latin typeface="Calibri"/>
              </a:rPr>
              <a:t>Dados públicos → evidência para gestão educacional até 2030</a:t>
            </a:r>
          </a:p>
          <a:p>
            <a:r>
              <a:rPr sz="1300" b="0">
                <a:solidFill>
                  <a:srgbClr val="FFFFFF"/>
                </a:solidFill>
                <a:latin typeface="Calibri"/>
              </a:rPr>
              <a:t>github.com/nassereq/Alfabetiza-Cursor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Contexto e problema de negócio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Ferramentas e arquitetura da solução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Como o projeto funciona (medalhão)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Resultados Gold — Brasil e UFs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Qualidade, FinOps e evidência em nuvem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Potencial de IA e otimizações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Entregáveis e fechamento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Contexto e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9D9"/>
                </a:solidFill>
                <a:latin typeface="Calibri"/>
              </a:rPr>
              <a:t>Compromisso Nacional Criança Alfabetizada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91440" cy="475488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17319"/>
            <a:ext cx="5166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Contexto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5166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Ponto de corte Saeb: 743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Indicador = % alfabetizados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Meta nacional: 100% até 2030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Fonte: Base dos Dados / Inep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Foco: 2º ano do EF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864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91440" cy="4754880"/>
          </a:xfrm>
          <a:prstGeom prst="rect">
            <a:avLst/>
          </a:prstGeom>
          <a:solidFill>
            <a:srgbClr val="E8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417319"/>
            <a:ext cx="5166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783080"/>
            <a:ext cx="5166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Dados fragmentados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(metas × território × indicador)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Sem pipeline integrada,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a gestão não prioriza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onde agir com evidência.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Ferramentas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9D9"/>
                </a:solidFill>
                <a:latin typeface="Calibri"/>
              </a:rPr>
              <a:t>Stack alinhada às aulas POSTECH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2788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91440" cy="219456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371600"/>
            <a:ext cx="2468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Python / Pandas / Parquet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37360"/>
            <a:ext cx="24688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Medalhão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234440"/>
            <a:ext cx="2788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234440"/>
            <a:ext cx="91440" cy="219456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1371600"/>
            <a:ext cx="2468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Base dos Dados + BigQuery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1737360"/>
            <a:ext cx="24688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Origem + evidência GCP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34440"/>
            <a:ext cx="2788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34440"/>
            <a:ext cx="91440" cy="219456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371600"/>
            <a:ext cx="2468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Kafka / file-sink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737360"/>
            <a:ext cx="24688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Streaming do indicador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234440"/>
            <a:ext cx="2788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1234440"/>
            <a:ext cx="91440" cy="219456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371600"/>
            <a:ext cx="2468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MySQL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1737360"/>
            <a:ext cx="24688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Dimensões relacionais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703320"/>
            <a:ext cx="2788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703320"/>
            <a:ext cx="91440" cy="219456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840480"/>
            <a:ext cx="2468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AWS Glue (template)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206240"/>
            <a:ext cx="24688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Deploy aula ETL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3703320"/>
            <a:ext cx="2788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91840" y="3703320"/>
            <a:ext cx="91440" cy="219456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93008" y="3840480"/>
            <a:ext cx="2468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GitHub + PRs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008" y="4206240"/>
            <a:ext cx="24688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Evolução auditável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03320"/>
            <a:ext cx="2788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91440" cy="219456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840480"/>
            <a:ext cx="2468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Qualidade + FinOps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4206240"/>
            <a:ext cx="24688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Validate + custo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703320"/>
            <a:ext cx="2788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0" y="3703320"/>
            <a:ext cx="91440" cy="219456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3840480"/>
            <a:ext cx="2468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Reports executivos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8" y="4206240"/>
            <a:ext cx="24688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KPI + preview Gold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Arquitetura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9D9"/>
                </a:solidFill>
                <a:latin typeface="Calibri"/>
              </a:rPr>
              <a:t>Batch + streaming → Bronze → Silver → Gold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0D7A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1. Origens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6A7A"/>
                </a:solidFill>
                <a:latin typeface="Calibri"/>
              </a:rPr>
              <a:t>BD / MySQL</a:t>
            </a:r>
          </a:p>
          <a:p>
            <a:r>
              <a:rPr sz="1300" b="0">
                <a:solidFill>
                  <a:srgbClr val="5A6A7A"/>
                </a:solidFill>
                <a:latin typeface="Calibri"/>
              </a:rPr>
              <a:t>Eventos JSON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68880" y="3200400"/>
            <a:ext cx="256032" cy="256032"/>
          </a:xfrm>
          <a:prstGeom prst="rightArrow">
            <a:avLst/>
          </a:prstGeom>
          <a:solidFill>
            <a:srgbClr val="E8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4320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0D7A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21945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2. Bronze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743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6A7A"/>
                </a:solidFill>
                <a:latin typeface="Calibri"/>
              </a:rPr>
              <a:t>Bruto +</a:t>
            </a:r>
          </a:p>
          <a:p>
            <a:r>
              <a:rPr sz="1300" b="0">
                <a:solidFill>
                  <a:srgbClr val="5A6A7A"/>
                </a:solidFill>
                <a:latin typeface="Calibri"/>
              </a:rPr>
              <a:t>metadados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00600" y="3200400"/>
            <a:ext cx="256032" cy="256032"/>
          </a:xfrm>
          <a:prstGeom prst="rightArrow">
            <a:avLst/>
          </a:prstGeom>
          <a:solidFill>
            <a:srgbClr val="E8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7492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0D7A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21945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3.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743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6A7A"/>
                </a:solidFill>
                <a:latin typeface="Calibri"/>
              </a:rPr>
              <a:t>Limpeza +</a:t>
            </a:r>
          </a:p>
          <a:p>
            <a:r>
              <a:rPr sz="1300" b="0">
                <a:solidFill>
                  <a:srgbClr val="5A6A7A"/>
                </a:solidFill>
                <a:latin typeface="Calibri"/>
              </a:rPr>
              <a:t>integração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200400"/>
            <a:ext cx="256032" cy="256032"/>
          </a:xfrm>
          <a:prstGeom prst="rightArrow">
            <a:avLst/>
          </a:prstGeom>
          <a:solidFill>
            <a:srgbClr val="E8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0D7A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0" y="21945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4. Gold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743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6A7A"/>
                </a:solidFill>
                <a:latin typeface="Calibri"/>
              </a:rPr>
              <a:t>Município</a:t>
            </a:r>
          </a:p>
          <a:p>
            <a:r>
              <a:rPr sz="1300" b="0">
                <a:solidFill>
                  <a:srgbClr val="5A6A7A"/>
                </a:solidFill>
                <a:latin typeface="Calibri"/>
              </a:rPr>
              <a:t>UF / Brasil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464040" y="3200400"/>
            <a:ext cx="256032" cy="256032"/>
          </a:xfrm>
          <a:prstGeom prst="rightArrow">
            <a:avLst/>
          </a:prstGeom>
          <a:solidFill>
            <a:srgbClr val="E8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38359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0D7A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19" y="21945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5. Consumo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19" y="2743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6A7A"/>
                </a:solidFill>
                <a:latin typeface="Calibri"/>
              </a:rPr>
              <a:t>BI · IA</a:t>
            </a:r>
          </a:p>
          <a:p>
            <a:r>
              <a:rPr sz="1300" b="0">
                <a:solidFill>
                  <a:srgbClr val="5A6A7A"/>
                </a:solidFill>
                <a:latin typeface="Calibri"/>
              </a:rPr>
              <a:t>Gestão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Resultados — Brasil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9D9"/>
                </a:solidFill>
                <a:latin typeface="Calibri"/>
              </a:rPr>
              <a:t>Gold: taxa média municipal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280160"/>
          <a:ext cx="65836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371600"/>
            <a:ext cx="438912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1371600"/>
            <a:ext cx="91440" cy="466344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6368" y="1508760"/>
            <a:ext cx="4069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Leitura executiva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1874519"/>
            <a:ext cx="406908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Último ano: 2024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Taxa: 63.17%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Municípios: 5516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Meta ref.: 62.0%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Gap: 1.17 p.p.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Δ vs 1º ano: 2.7 p.p.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Avanço real, mas longe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de 100% em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Desigualdade territorial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9D9"/>
                </a:solidFill>
                <a:latin typeface="Calibri"/>
              </a:rPr>
              <a:t>UF — 2024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234440"/>
          <a:ext cx="7315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371600"/>
            <a:ext cx="3749039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371600"/>
            <a:ext cx="91440" cy="4663440"/>
          </a:xfrm>
          <a:prstGeom prst="rect">
            <a:avLst/>
          </a:prstGeom>
          <a:solidFill>
            <a:srgbClr val="E8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508760"/>
            <a:ext cx="342899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Mensagem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6448" y="1874519"/>
            <a:ext cx="342899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Mesma política,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realidades distintas.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Gold responde: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quem está abaixo?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qual a tendência?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onde priorizar?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Qualidade, FinOps e nuvem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3657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91440" cy="475488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17319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Qualidade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3337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Duplicidade · nulos · FKs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Consistência meta×indicador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quality.passed = true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Snapshot em reports/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657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91440" cy="4754880"/>
          </a:xfrm>
          <a:prstGeom prst="rect">
            <a:avLst/>
          </a:prstGeom>
          <a:solidFill>
            <a:srgbClr val="E8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417319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FinOps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1783080"/>
            <a:ext cx="3337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Parquet particionado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Compute sob demanda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BQ ~0,7 MB / job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AWS Glue sob demanda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Dev local barato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280160"/>
            <a:ext cx="3657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280160"/>
            <a:ext cx="91440" cy="47548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1417319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1783080"/>
            <a:ext cx="3337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GCP BigQuery (job_id)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Template AWS Glue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reports/cloud_evidence/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Relatório executivo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automático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IA e otimizações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9D9"/>
                </a:solidFill>
                <a:latin typeface="Calibri"/>
              </a:rPr>
              <a:t>O ativo Gold habilita o próximo ciclo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91440" cy="475488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17319"/>
            <a:ext cx="5166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Potencial de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5166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Predição de % até 2030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Análise de desigualdade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Clusters de vulnerabilidade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Priorização de intervenção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Analytics em linguagem natural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864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8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91440" cy="4754880"/>
          </a:xfrm>
          <a:prstGeom prst="rect">
            <a:avLst/>
          </a:prstGeom>
          <a:solidFill>
            <a:srgbClr val="E8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417319"/>
            <a:ext cx="5166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2C4A"/>
                </a:solidFill>
                <a:latin typeface="Calibri"/>
              </a:rPr>
              <a:t>Próximas otimizações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783080"/>
            <a:ext cx="5166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Microdados reais (alunos)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Nomes IBGE oficiais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Metas oficiais por ente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Orquestração (Airflow/SF)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Glue/S3 em produção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A7A"/>
                </a:solidFill>
                <a:latin typeface="Calibri"/>
              </a:rPr>
              <a:t>Alertas de qualidade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Entregáveis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Repo: https://github.com/nassereq/Alfabetiza-Cursor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Pipeline: python -m pipelines.run_pipeline --fonte raw --with-streaming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Relatório: reports/executivo/RELATORIO_EXECUTIVO.md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Preview Gold: reports/gold_preview/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Evidência cloud: reports/cloud_evidence/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Este deck + vídeo ≤ 5 min no 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Problema: alfabetização exige dados integrados para priorizar.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Solução: pipeline híbrida medalhão com qualidade e FinOps.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Resultado: Gold pronta para gestão e para IA.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Próximo passo: gravar o vídeo com este deck.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A7A"/>
                </a:solidFill>
                <a:latin typeface="Calibri"/>
              </a:rPr>
              <a:t>Alfabetiza-Cursor · FIAP POSTECH · github.com/nassereq/Alfabetiza-Cursor ·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8E6E2"/>
                </a:solidFill>
                <a:latin typeface="Calibri"/>
              </a:rPr>
              <a:t>Perguntas? · github.com/nassereq/Alfabetiza-Cursor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