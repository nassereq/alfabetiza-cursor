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Pipeline Híbrida Medalhão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C8E6E2"/>
                </a:solidFill>
                <a:latin typeface="Calibri"/>
              </a:rPr>
              <a:t>Indicador Criança Alfabetizada — Tech Challenge Fase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5778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POSTECH / FIAP — AI Scientist</a:t>
            </a:r>
          </a:p>
          <a:p>
            <a:r>
              <a:rPr sz="1400" b="0">
                <a:solidFill>
                  <a:srgbClr val="FFFFFF"/>
                </a:solidFill>
                <a:latin typeface="Calibri"/>
              </a:rPr>
              <a:t>Engenharia de dados para política pública educacional · github.com/nassereq/Alfabetiza-Cursor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Introdução e objetivo da entrega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Contextualização: Compromisso Nacional Criança Alfabetizada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O problema de dados e o papel da engenharia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Ferramentas e stack tecnológica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O projeto: arquitetura híbrida e medalhão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Resultados na camada Gold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Qualidade, FinOps e evidência em nuvem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Potencial de IA e otimizações futuras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Repositório, entregáveis e fechamento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A"/>
                </a:solidFill>
                <a:latin typeface="Calibri"/>
              </a:rPr>
              <a:t>Tech Challenge Fase 2 · Alfabetiza-Cursor · nassereq/Alfabetiza-Cursor  ·  2/17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Introdução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B8C9D9"/>
                </a:solidFill>
                <a:latin typeface="Calibri"/>
              </a:rPr>
              <a:t>Quem somos e o que entregamos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486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109728" cy="201168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C4A"/>
                </a:solidFill>
                <a:latin typeface="Calibri"/>
              </a:rPr>
              <a:t>Papel da equipe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6596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A7A"/>
                </a:solidFill>
                <a:latin typeface="Calibri"/>
              </a:rPr>
              <a:t>Atuar como engenharia de dados de uma organização pública: construir a pipeline que transforma dados educacionais em evidência para gestão.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486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109728" cy="2011680"/>
          </a:xfrm>
          <a:prstGeom prst="rect">
            <a:avLst/>
          </a:prstGeom>
          <a:solidFill>
            <a:srgbClr val="E8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002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C4A"/>
                </a:solidFill>
                <a:latin typeface="Calibri"/>
              </a:rPr>
              <a:t>Objetivo do Tech 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6596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A7A"/>
                </a:solidFill>
                <a:latin typeface="Calibri"/>
              </a:rPr>
              <a:t>Pipeline híbrida (batch + streaming) em arquitetura medalhão (Bronze → Silver → Gold), com qualidade, monitoramento, FinOps e preparação para 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39"/>
            <a:ext cx="5486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109728" cy="2011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C4A"/>
                </a:solidFill>
                <a:latin typeface="Calibri"/>
              </a:rPr>
              <a:t>Entrega principal (90%)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51959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A7A"/>
                </a:solidFill>
                <a:latin typeface="Calibri"/>
              </a:rPr>
              <a:t>Apresentação executiva ≤ 5 min: problema, arquitetura, valor educacional e potencial de IA — linguagem para liderança, sem código na tela.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49039"/>
            <a:ext cx="5486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749039"/>
            <a:ext cx="109728" cy="201168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8862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C4A"/>
                </a:solidFill>
                <a:latin typeface="Calibri"/>
              </a:rPr>
              <a:t>Artefato técnico (10%)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251959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A7A"/>
                </a:solidFill>
                <a:latin typeface="Calibri"/>
              </a:rPr>
              <a:t>Repositório GitHub público com evolução por branches/PRs, documentação, pipeline reproduzível e evidência cloud.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A"/>
                </a:solidFill>
                <a:latin typeface="Calibri"/>
              </a:rPr>
              <a:t>Tech Challenge Fase 2 · Alfabetiza-Cursor · nassereq/Alfabetiza-Cursor  ·  3/17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Contextualização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B8C9D9"/>
                </a:solidFill>
                <a:latin typeface="Calibri"/>
              </a:rPr>
              <a:t>Política pública de alfabetização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Compromisso Nacional Criança Alfabetizada: União, estados, DF e municípios.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Meta: toda criança alfabetizada até o final do 2º ano do ensino fundamental.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Pesquisa Alfabetiza Brasil (INEP, 2023): ponto de corte 743 na escala Saeb.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Indicador Criança Alfabetizada = % de estudantes no patamar de alfabetizados.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Meta nacional: 100% até 2030 — exige monitoramento territorial contínuo.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Fonte oficial usada: Base dos Dados / Inep (br_inep_avaliacao_alfabetizacao).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A"/>
                </a:solidFill>
                <a:latin typeface="Calibri"/>
              </a:rPr>
              <a:t>Tech Challenge Fase 2 · Alfabetiza-Cursor · nassereq/Alfabetiza-Cursor  ·  4/17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O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B8C9D9"/>
                </a:solidFill>
                <a:latin typeface="Calibri"/>
              </a:rPr>
              <a:t>Dados existem — decisão integrada não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3657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109728" cy="4114800"/>
          </a:xfrm>
          <a:prstGeom prst="rect">
            <a:avLst/>
          </a:prstGeom>
          <a:solidFill>
            <a:srgbClr val="E8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C4A"/>
                </a:solidFill>
                <a:latin typeface="Calibri"/>
              </a:rPr>
              <a:t>Fragmentação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6596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A7A"/>
                </a:solidFill>
                <a:latin typeface="Calibri"/>
              </a:rPr>
              <a:t>Metas (Brasil/UF/município), território, indicador e microdados vivem em silos. Sem integração, a gestão não prioriza onde agir.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3657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109728" cy="411480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6002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C4A"/>
                </a:solidFill>
                <a:latin typeface="Calibri"/>
              </a:rPr>
              <a:t>Risco operacional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96596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A7A"/>
                </a:solidFill>
                <a:latin typeface="Calibri"/>
              </a:rPr>
              <a:t>Relatórios retrospectivos isolados não mostram gap meta × resultado nem evolução temporal comparável entre entes.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463040"/>
            <a:ext cx="3657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463040"/>
            <a:ext cx="109728" cy="411480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6002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C4A"/>
                </a:solidFill>
                <a:latin typeface="Calibri"/>
              </a:rPr>
              <a:t>O que falta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96596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A7A"/>
                </a:solidFill>
                <a:latin typeface="Calibri"/>
              </a:rPr>
              <a:t>Uma pipeline confiável: rastreável (Bronze), tratada (Silver), analítica (Gold), com qualidade, custo controlado e frescor (streaming).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A"/>
                </a:solidFill>
                <a:latin typeface="Calibri"/>
              </a:rPr>
              <a:t>Tech Challenge Fase 2 · Alfabetiza-Cursor · nassereq/Alfabetiza-Cursor  ·  5/17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Ferramentas utilizadas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B8C9D9"/>
                </a:solidFill>
                <a:latin typeface="Calibri"/>
              </a:rPr>
              <a:t>Stack alinhada às aulas POSTECH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27889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109728" cy="201168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0876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C4A"/>
                </a:solidFill>
                <a:latin typeface="Calibri"/>
              </a:rPr>
              <a:t>Python / Pandas / PyArrow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A7A"/>
                </a:solidFill>
                <a:latin typeface="Calibri"/>
              </a:rPr>
              <a:t>Pipeline local, transformação e Parquet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371600"/>
            <a:ext cx="27889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109728" cy="201168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50876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C4A"/>
                </a:solidFill>
                <a:latin typeface="Calibri"/>
              </a:rPr>
              <a:t>Base dos Dados + BigQuery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874519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A7A"/>
                </a:solidFill>
                <a:latin typeface="Calibri"/>
              </a:rPr>
              <a:t>Origem oficial + evidência GCP (job_id)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27889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109728" cy="201168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50876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C4A"/>
                </a:solidFill>
                <a:latin typeface="Calibri"/>
              </a:rPr>
              <a:t>Arquitetura medalhão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874519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A7A"/>
                </a:solidFill>
                <a:latin typeface="Calibri"/>
              </a:rPr>
              <a:t>Bronze / Silver / Gold (SOR / SOT / SPEC)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371600"/>
            <a:ext cx="27889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1371600"/>
            <a:ext cx="109728" cy="201168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150876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C4A"/>
                </a:solidFill>
                <a:latin typeface="Calibri"/>
              </a:rPr>
              <a:t>Kafka / file-sink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1874519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A7A"/>
                </a:solidFill>
                <a:latin typeface="Calibri"/>
              </a:rPr>
              <a:t>Braço streaming de atualização do indicador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657600"/>
            <a:ext cx="27889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657600"/>
            <a:ext cx="109728" cy="2011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79476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C4A"/>
                </a:solidFill>
                <a:latin typeface="Calibri"/>
              </a:rPr>
              <a:t>MySQL + 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16052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A7A"/>
                </a:solidFill>
                <a:latin typeface="Calibri"/>
              </a:rPr>
              <a:t>Dimensões relacionais (aula de BD)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0" y="3657600"/>
            <a:ext cx="27889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91840" y="3657600"/>
            <a:ext cx="109728" cy="2011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379476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C4A"/>
                </a:solidFill>
                <a:latin typeface="Calibri"/>
              </a:rPr>
              <a:t>AWS Glue template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416052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A7A"/>
                </a:solidFill>
                <a:latin typeface="Calibri"/>
              </a:rPr>
              <a:t>Caminho de deploy cloud da disciplina ETL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657600"/>
            <a:ext cx="27889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657600"/>
            <a:ext cx="109728" cy="2011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79476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C4A"/>
                </a:solidFill>
                <a:latin typeface="Calibri"/>
              </a:rPr>
              <a:t>GitHub + PRs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16052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A7A"/>
                </a:solidFill>
                <a:latin typeface="Calibri"/>
              </a:rPr>
              <a:t>Evolução visível (bronze → gold → cloud)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3657600"/>
            <a:ext cx="27889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44000" y="3657600"/>
            <a:ext cx="109728" cy="2011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72600" y="3794760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C4A"/>
                </a:solidFill>
                <a:latin typeface="Calibri"/>
              </a:rPr>
              <a:t>Qualidade + FinOps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4160520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A7A"/>
                </a:solidFill>
                <a:latin typeface="Calibri"/>
              </a:rPr>
              <a:t>validate.py, health check, estimativa de custo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A"/>
                </a:solidFill>
                <a:latin typeface="Calibri"/>
              </a:rPr>
              <a:t>Tech Challenge Fase 2 · Alfabetiza-Cursor · nassereq/Alfabetiza-Cursor  ·  6/17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Arquitetura da solução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B8C9D9"/>
                </a:solidFill>
                <a:latin typeface="Calibri"/>
              </a:rPr>
              <a:t>Pipeline híbrida batch + streaming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Origens: Base dos Dados (BigQuery), dimensões MySQL, eventos JSON (estilo NoSQL).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Batch: carga periódica de históricos (município/UF → entidades da pipeline).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Streaming: producer de eventos do indicador (Kafka ou file-sink na demo).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Bronze: bruto + metadados (_data_ingestao, _fonte) particionado por data.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Silver: tipagem, dedup, FKs e integração indicador × meta × município.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Gold: 3 produtos — indicador municipal, meta×resultado (UF/Brasil), evolução.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Cloud: evidência real GCP BigQuery; template AWS S3 + Glue (aula ETL).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A"/>
                </a:solidFill>
                <a:latin typeface="Calibri"/>
              </a:rPr>
              <a:t>Tech Challenge Fase 2 · Alfabetiza-Cursor · nassereq/Alfabetiza-Cursor  ·  7/17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O projeto em prática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B8C9D9"/>
                </a:solidFill>
                <a:latin typeface="Calibri"/>
              </a:rPr>
              <a:t>Do dado bruto à decisão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828800"/>
            <a:ext cx="27432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0D7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B2C4A"/>
                </a:solidFill>
                <a:latin typeface="Calibri"/>
              </a:rPr>
              <a:t>1. Ingestão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51760"/>
            <a:ext cx="2468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A6A7A"/>
                </a:solidFill>
                <a:latin typeface="Calibri"/>
              </a:rPr>
              <a:t>fetch/map Base dos Dados</a:t>
            </a:r>
          </a:p>
          <a:p>
            <a:r>
              <a:rPr sz="1400" b="0">
                <a:solidFill>
                  <a:srgbClr val="5A6A7A"/>
                </a:solidFill>
                <a:latin typeface="Calibri"/>
              </a:rPr>
              <a:t>serie=2 · rede=5</a:t>
            </a:r>
          </a:p>
          <a:p>
            <a:r>
              <a:rPr sz="1400" b="0">
                <a:solidFill>
                  <a:srgbClr val="5A6A7A"/>
                </a:solidFill>
                <a:latin typeface="Calibri"/>
              </a:rPr>
              <a:t>taxa → pct_alfabetizados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63240" y="3291840"/>
            <a:ext cx="320040" cy="320040"/>
          </a:xfrm>
          <a:prstGeom prst="rightArrow">
            <a:avLst/>
          </a:prstGeom>
          <a:solidFill>
            <a:srgbClr val="E8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7560" y="1828800"/>
            <a:ext cx="27432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0D7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01168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B2C4A"/>
                </a:solidFill>
                <a:latin typeface="Calibri"/>
              </a:rPr>
              <a:t>2. Bronze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651760"/>
            <a:ext cx="2468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A6A7A"/>
                </a:solidFill>
                <a:latin typeface="Calibri"/>
              </a:rPr>
              <a:t>Parquet bruto</a:t>
            </a:r>
          </a:p>
          <a:p>
            <a:r>
              <a:rPr sz="1400" b="0">
                <a:solidFill>
                  <a:srgbClr val="5A6A7A"/>
                </a:solidFill>
                <a:latin typeface="Calibri"/>
              </a:rPr>
              <a:t>rastreabilidade</a:t>
            </a:r>
          </a:p>
          <a:p>
            <a:r>
              <a:rPr sz="1400" b="0">
                <a:solidFill>
                  <a:srgbClr val="5A6A7A"/>
                </a:solidFill>
                <a:latin typeface="Calibri"/>
              </a:rPr>
              <a:t>batch + eventos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89320" y="3291840"/>
            <a:ext cx="320040" cy="320040"/>
          </a:xfrm>
          <a:prstGeom prst="rightArrow">
            <a:avLst/>
          </a:prstGeom>
          <a:solidFill>
            <a:srgbClr val="E8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828800"/>
            <a:ext cx="27432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0D7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B2C4A"/>
                </a:solidFill>
                <a:latin typeface="Calibri"/>
              </a:rPr>
              <a:t>3. Silver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51760"/>
            <a:ext cx="2468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A6A7A"/>
                </a:solidFill>
                <a:latin typeface="Calibri"/>
              </a:rPr>
              <a:t>Limpeza + chaves</a:t>
            </a:r>
          </a:p>
          <a:p>
            <a:r>
              <a:rPr sz="1400" b="0">
                <a:solidFill>
                  <a:srgbClr val="5A6A7A"/>
                </a:solidFill>
                <a:latin typeface="Calibri"/>
              </a:rPr>
              <a:t>integrado meta×ind</a:t>
            </a:r>
          </a:p>
          <a:p>
            <a:r>
              <a:rPr sz="1400" b="0">
                <a:solidFill>
                  <a:srgbClr val="5A6A7A"/>
                </a:solidFill>
                <a:latin typeface="Calibri"/>
              </a:rPr>
              <a:t>qualidade OK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915400" y="3291840"/>
            <a:ext cx="320040" cy="320040"/>
          </a:xfrm>
          <a:prstGeom prst="rightArrow">
            <a:avLst/>
          </a:prstGeom>
          <a:solidFill>
            <a:srgbClr val="E8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89720" y="1828800"/>
            <a:ext cx="27432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0D7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201168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B2C4A"/>
                </a:solidFill>
                <a:latin typeface="Calibri"/>
              </a:rPr>
              <a:t>4. Gold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651760"/>
            <a:ext cx="2468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A6A7A"/>
                </a:solidFill>
                <a:latin typeface="Calibri"/>
              </a:rPr>
              <a:t>Município / UF / BR</a:t>
            </a:r>
          </a:p>
          <a:p>
            <a:r>
              <a:rPr sz="1400" b="0">
                <a:solidFill>
                  <a:srgbClr val="5A6A7A"/>
                </a:solidFill>
                <a:latin typeface="Calibri"/>
              </a:rPr>
              <a:t>evolução temporal</a:t>
            </a:r>
          </a:p>
          <a:p>
            <a:r>
              <a:rPr sz="1400" b="0">
                <a:solidFill>
                  <a:srgbClr val="5A6A7A"/>
                </a:solidFill>
                <a:latin typeface="Calibri"/>
              </a:rPr>
              <a:t>CSVs para BI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A"/>
                </a:solidFill>
                <a:latin typeface="Calibri"/>
              </a:rPr>
              <a:t>Tech Challenge Fase 2 · Alfabetiza-Cursor · nassereq/Alfabetiza-Cursor  ·  8/17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Resultados — Brasil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B8C9D9"/>
                </a:solidFill>
                <a:latin typeface="Calibri"/>
              </a:rPr>
              <a:t>Gold: comparativo meta × resultado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3657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109728" cy="438912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C4A"/>
                </a:solidFill>
                <a:latin typeface="Calibri"/>
              </a:rPr>
              <a:t>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6596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A7A"/>
                </a:solidFill>
                <a:latin typeface="Calibri"/>
              </a:rPr>
              <a:t>Taxa média: 60,47%
Municípios: 4.950
Na meta: 2.959
Meta traj.: 56%
Gap: +4,5 p.p.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3657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109728" cy="4389120"/>
          </a:xfrm>
          <a:prstGeom prst="rect">
            <a:avLst/>
          </a:prstGeom>
          <a:solidFill>
            <a:srgbClr val="E8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6002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C4A"/>
                </a:solidFill>
                <a:latin typeface="Calibri"/>
              </a:rPr>
              <a:t>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96596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A7A"/>
                </a:solidFill>
                <a:latin typeface="Calibri"/>
              </a:rPr>
              <a:t>Taxa média: 63,17%
Municípios: 5.516
Na meta: 2.968
Meta traj.: 62%
Gap: +1,2 p.p.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463040"/>
            <a:ext cx="3657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463040"/>
            <a:ext cx="109728" cy="43891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6002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C4A"/>
                </a:solidFill>
                <a:latin typeface="Calibri"/>
              </a:rPr>
              <a:t>Leitura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96596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A7A"/>
                </a:solidFill>
                <a:latin typeface="Calibri"/>
              </a:rPr>
              <a:t>Houve avanço da média nacional (60,5 → 63,2), mas o desafio 2030 (100%) permanece. A Gold torna o gap visível por território.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A"/>
                </a:solidFill>
                <a:latin typeface="Calibri"/>
              </a:rPr>
              <a:t>Tech Challenge Fase 2 · Alfabetiza-Cursor · nassereq/Alfabetiza-Cursor  ·  9/17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Resultados — desigualdade territorial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B8C9D9"/>
                </a:solidFill>
                <a:latin typeface="Calibri"/>
              </a:rPr>
              <a:t>2024 · taxa média por UF (amostra)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4864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109728" cy="219456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C4A"/>
                </a:solidFill>
                <a:latin typeface="Calibri"/>
              </a:rPr>
              <a:t>Maior desempenho (2024)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6596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A7A"/>
                </a:solidFill>
                <a:latin typeface="Calibri"/>
              </a:rPr>
              <a:t>Ceará 90,3% · Goiás 80,3% · Espírito Santo 78,6%
(acima da meta didática de 62%)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4864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109728" cy="2194560"/>
          </a:xfrm>
          <a:prstGeom prst="rect">
            <a:avLst/>
          </a:prstGeom>
          <a:solidFill>
            <a:srgbClr val="E8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002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C4A"/>
                </a:solidFill>
                <a:latin typeface="Calibri"/>
              </a:rPr>
              <a:t>Maior desafio (2024)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6596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A7A"/>
                </a:solidFill>
                <a:latin typeface="Calibri"/>
              </a:rPr>
              <a:t>Bahia 36,6% · Sergipe 36,9% · Rio Grande do Norte 42,5%
(gap de ~19 a 25 p.p. vs meta)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112471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109728" cy="201168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06908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C4A"/>
                </a:solidFill>
                <a:latin typeface="Calibri"/>
              </a:rPr>
              <a:t>Valor para a gestão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43484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A7A"/>
                </a:solidFill>
                <a:latin typeface="Calibri"/>
              </a:rPr>
              <a:t>A mesma Gold responde: quem está abaixo da meta? qual a trajetória ano a ano? onde priorizar recomposição de aprendizagem? — de relatório estático para prioridade operacional.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A"/>
                </a:solidFill>
                <a:latin typeface="Calibri"/>
              </a:rPr>
              <a:t>Tech Challenge Fase 2 · Alfabetiza-Cursor · nassereq/Alfabetiza-Cursor  ·  10/17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Produtos analíticos (Gold)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B8C9D9"/>
                </a:solidFill>
                <a:latin typeface="Calibri"/>
              </a:rPr>
              <a:t>O que o enunciado pede — materializado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indicador_alfabetizacao_municipio — fato municipal com meta, gap e flag atingiu_meta.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comparativo_meta_resultado_uf / _brasil — agregações para gestão estadual e nacional.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evolucao_temporal_* — delta em pontos percentuais vs ano anterior.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Volume processado: ~10,5 mil linhas municipais (2023–2024, serie 2, rede 5).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Saídas em Parquet + CSV (Excel / Power BI / notebooks).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Qualidade automatizada: duplicidade, nulos, FKs e consistência meta×indicador.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A"/>
                </a:solidFill>
                <a:latin typeface="Calibri"/>
              </a:rPr>
              <a:t>Tech Challenge Fase 2 · Alfabetiza-Cursor · nassereq/Alfabetiza-Cursor  ·  11/17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Qualidade, FinOps e nuvem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B8C9D9"/>
                </a:solidFill>
                <a:latin typeface="Calibri"/>
              </a:rPr>
              <a:t>Requisitos modernos do enunciado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3657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109728" cy="4389120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C4A"/>
                </a:solidFill>
                <a:latin typeface="Calibri"/>
              </a:rPr>
              <a:t>Qualidade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6596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A7A"/>
                </a:solidFill>
                <a:latin typeface="Calibri"/>
              </a:rPr>
              <a:t>quality/validate.py
Sem duplicatas nas chaves
FKs município→UF
indicador→município
Anos cobertos por meta
passed = true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3657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109728" cy="4389120"/>
          </a:xfrm>
          <a:prstGeom prst="rect">
            <a:avLst/>
          </a:prstGeom>
          <a:solidFill>
            <a:srgbClr val="E8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6002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C4A"/>
                </a:solidFill>
                <a:latin typeface="Calibri"/>
              </a:rPr>
              <a:t>FinOps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96596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A7A"/>
                </a:solidFill>
                <a:latin typeface="Calibri"/>
              </a:rPr>
              <a:t>Parquet particionado
Compute sob demanda
Dev local barato
BQ ~0,7 MB/job
AWS Glue sob demanda
~US$ 5–20/mês (demo)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463040"/>
            <a:ext cx="3657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463040"/>
            <a:ext cx="109728" cy="438912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6002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2C4A"/>
                </a:solidFill>
                <a:latin typeface="Calibri"/>
              </a:rPr>
              <a:t>Evidência 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96596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A7A"/>
                </a:solidFill>
                <a:latin typeface="Calibri"/>
              </a:rPr>
              <a:t>GCP BigQuery
Projeto: alfabetiza-fiap-…
Job ID versionado
reports/cloud_evidence/
+ template AWS Glue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A"/>
                </a:solidFill>
                <a:latin typeface="Calibri"/>
              </a:rPr>
              <a:t>Tech Challenge Fase 2 · Alfabetiza-Cursor · nassereq/Alfabetiza-Cursor  ·  12/17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Uso de IA — potencial sobre a Gold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B8C9D9"/>
                </a:solidFill>
                <a:latin typeface="Calibri"/>
              </a:rPr>
              <a:t>Engenharia entrega o ativo; ciência consome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Predição: projetar % alfabetizados por município até 2030 (features: histórico, UF, gap, rede).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Desigualdade: decompor gaps regionais e correlacionar com vulnerabilidade socioeconômica (IBGE/CadÚnico — opcional).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Clustering: grupos de municípios com perfil semelhante para políticas diferenciadas.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Priorização: ranking de intervenção com base em distância da meta e tendência temporal.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LLM / analytics assistida: perguntas em linguagem natural sobre a Gold (camada futura).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Importante: esta entrega foca a plataforma de dados — modelos são o próximo ciclo.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A"/>
                </a:solidFill>
                <a:latin typeface="Calibri"/>
              </a:rPr>
              <a:t>Tech Challenge Fase 2 · Alfabetiza-Cursor · nassereq/Alfabetiza-Cursor  ·  13/17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Possíveis otimizações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B8C9D9"/>
                </a:solidFill>
                <a:latin typeface="Calibri"/>
              </a:rPr>
              <a:t>Roadmap técnico e de negócio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Extrair microdados reais da tabela alunos (hoje: amostra sintética alinhada à taxa).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Enriquecer nomes de município via diretório IBGE (Base dos Dados).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Metas oficiais por ente (quando publicadas) no lugar da trajetória didática 2030.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Orquestração (Airflow/Step Functions) e agendamento do batch.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Deploy completo AWS: buckets SOR/SOT/SPEC + jobs Glue em produção.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Streaming com Kafka gerenciado + schema registry; DLQ e replay.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Camada semântica / dbt e catálogo (Data Hub / Unity Catalog).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Observabilidade: alertas se quality.passed == false ou volume cair &gt; 50%.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A"/>
                </a:solidFill>
                <a:latin typeface="Calibri"/>
              </a:rPr>
              <a:t>Tech Challenge Fase 2 · Alfabetiza-Cursor · nassereq/Alfabetiza-Cursor  ·  14/17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Entregáveis e repositório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B8C9D9"/>
                </a:solidFill>
                <a:latin typeface="Calibri"/>
              </a:rPr>
              <a:t>O que enviar no 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GitHub público: https://github.com/nassereq/Alfabetiza-Cursor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PRs mergeados: Base dos Dados (#1) e evidência cloud GCP (#2).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Pipeline: python -m pipelines.run_pipeline --fonte raw --with-streaming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Docs: contexto, arquitetura, FinOps, dicionário, roteiro de vídeo e estágios.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Evidência cloud: reports/cloud_evidence/ (job_id BigQuery).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Este deck + vídeo executivo ≤ 5 min (problema → arquitetura → valor → IA).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A"/>
                </a:solidFill>
                <a:latin typeface="Calibri"/>
              </a:rPr>
              <a:t>Tech Challenge Fase 2 · Alfabetiza-Cursor · nassereq/Alfabetiza-Cursor  ·  15/17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Conclusão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B8C9D9"/>
                </a:solidFill>
                <a:latin typeface="Calibri"/>
              </a:rPr>
              <a:t>Evidência para a meta 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Problema: alfabetização exige dados integrados para priorizar territórios.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Solução: pipeline híbrida medalhão com qualidade, FinOps e cloud.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Resultado: Gold pronta para gestão (município / UF / Brasil) e para IA.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Próximo passo humano: gravar o vídeo com o roteiro em docs/ROTEIRO_VIDEO.md.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 Obrigado — perguntas?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A7A"/>
                </a:solidFill>
                <a:latin typeface="Calibri"/>
              </a:rPr>
              <a:t>Tech Challenge Fase 2 · Alfabetiza-Cursor · nassereq/Alfabetiza-Cursor  ·  16/17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Obrigado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C8E6E2"/>
                </a:solidFill>
                <a:latin typeface="Calibri"/>
              </a:rPr>
              <a:t>Alfabetiza-Cursor · Tech Challenge Fase 2 · FIAP POSTECH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github.com/nassereq/Alfabetiza-Cursor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